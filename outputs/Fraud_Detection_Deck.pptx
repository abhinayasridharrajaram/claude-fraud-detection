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Unsupervised Fraud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</a:rPr>
              <a:t>on the Kaggle Credit Card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3383280"/>
            <a:ext cx="576072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56616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D0D8EA"/>
                </a:solidFill>
              </a:rPr>
              <a:t>Anomaly detection + clustering  ·  0 labels used in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548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88888"/>
                </a:solidFill>
              </a:rPr>
              <a:t>Run ID: 2026-04-24_1712  ·  Dataset: Kaggle Credit Card Fraud (ULB)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2578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8888"/>
                </a:solidFill>
              </a:rPr>
              <a:t>Date: 2026-04-24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6949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444444"/>
                </a:solidFill>
              </a:rPr>
              <a:t>▸  284,807 transactions over 48 hours — only 492 are fraud (0.17%)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444444"/>
                </a:solidFill>
              </a:rPr>
              <a:t>▸  Class labels unavailable at inference time; unsupervised scoring required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444444"/>
                </a:solidFill>
              </a:rPr>
              <a:t>▸  Naive 'predict all legit' → 99.83% accuracy, 0% fraud caught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444444"/>
                </a:solidFill>
              </a:rPr>
              <a:t>▸  Evaluation via precision@top-k and ROC-AUC against held-out labels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0" y="1371600"/>
            <a:ext cx="822960" cy="329184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19" y="10515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F3A68"/>
                </a:solidFill>
              </a:rPr>
              <a:t>99.83%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19" y="4709159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4444"/>
                </a:solidFill>
              </a:rPr>
              <a:t>Legitimate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0" y="4657834"/>
            <a:ext cx="822960" cy="5605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98280" y="433779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02020"/>
                </a:solidFill>
              </a:rPr>
              <a:t>0.17%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8280" y="4709159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44444"/>
                </a:solidFill>
              </a:rPr>
              <a:t>Fraud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4663440"/>
            <a:ext cx="2103120" cy="18288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</a:rPr>
              <a:t>Class distribution — 578:1 imbalance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</a:rPr>
              <a:t>Source: outputs/eda_summary.md · outputs/runs/2026-04-24_1712/data_quality_report.md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700">
                <a:solidFill>
                  <a:srgbClr val="444444"/>
                </a:solidFill>
              </a:rPr>
              <a:t>▸  Feature engineering: log1p(Amount), hour_of_day, PCA components V1–V28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444444"/>
                </a:solidFill>
              </a:rPr>
              <a:t>▸  StandardScaler applied to all 30 features — Class never seen by models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444444"/>
                </a:solidFill>
              </a:rPr>
              <a:t>▸  Models: Isolation Forest · One-Class SVM · Local Outlier Factor</a:t>
            </a:r>
          </a:p>
          <a:p>
            <a:pPr>
              <a:spcBef>
                <a:spcPts val="400"/>
              </a:spcBef>
            </a:pPr>
            <a:r>
              <a:rPr sz="1700">
                <a:solidFill>
                  <a:srgbClr val="444444"/>
                </a:solidFill>
              </a:rPr>
              <a:t>▸  Evaluation: precision@top-1% / top-0.1%, recall@top-1%, ROC-AUC vs held-out Class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206240"/>
            <a:ext cx="2011680" cy="13716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34340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Data
284K rows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461772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F3A68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971800" y="4206240"/>
            <a:ext cx="2011680" cy="13716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434340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Features
log / hour /
V1–V28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461772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F3A68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4960" y="4206240"/>
            <a:ext cx="2011680" cy="13716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60" y="434340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Models
IF · LOF
OCSVM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461772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F3A68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18120" y="4206240"/>
            <a:ext cx="2011680" cy="137160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34340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Score &amp;
Rank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</a:rPr>
              <a:t>Source: ml/00_build_features.py · ml/01_anomaly_detection.py · CLAUDE.md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Results — Anomaly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2103120" cy="438912"/>
          </a:xfrm>
          <a:prstGeom prst="rect">
            <a:avLst/>
          </a:prstGeom>
          <a:solidFill>
            <a:srgbClr val="1F3A6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07008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79" y="1143000"/>
            <a:ext cx="1280160" cy="438912"/>
          </a:xfrm>
          <a:prstGeom prst="rect">
            <a:avLst/>
          </a:prstGeom>
          <a:solidFill>
            <a:srgbClr val="1F3A6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4599" y="1207008"/>
            <a:ext cx="1188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Prec@top-1%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9039" y="1143000"/>
            <a:ext cx="1417320" cy="438912"/>
          </a:xfrm>
          <a:prstGeom prst="rect">
            <a:avLst/>
          </a:prstGeom>
          <a:solidFill>
            <a:srgbClr val="1F3A6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94759" y="1207008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Prec@top-0.1%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66360" y="1143000"/>
            <a:ext cx="1371600" cy="438912"/>
          </a:xfrm>
          <a:prstGeom prst="rect">
            <a:avLst/>
          </a:prstGeom>
          <a:solidFill>
            <a:srgbClr val="1F3A6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120700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Recall@top-1%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37960" y="1143000"/>
            <a:ext cx="1097280" cy="438912"/>
          </a:xfrm>
          <a:prstGeom prst="rect">
            <a:avLst/>
          </a:prstGeom>
          <a:solidFill>
            <a:srgbClr val="1F3A6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207008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ROC-AUC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581912"/>
            <a:ext cx="21031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1645920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44444"/>
                </a:solidFill>
              </a:rPr>
              <a:t>Isolation Forest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68879" y="1581912"/>
            <a:ext cx="12801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14599" y="1645920"/>
            <a:ext cx="1188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44444"/>
                </a:solidFill>
              </a:rPr>
              <a:t>0.099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49039" y="1581912"/>
            <a:ext cx="1417320" cy="438912"/>
          </a:xfrm>
          <a:prstGeom prst="rect">
            <a:avLst/>
          </a:prstGeom>
          <a:solidFill>
            <a:srgbClr val="FFF2C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94759" y="1645920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44444"/>
                </a:solidFill>
              </a:rPr>
              <a:t>0.354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66360" y="1581912"/>
            <a:ext cx="1371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80" y="164592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44444"/>
                </a:solidFill>
              </a:rPr>
              <a:t>0.571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37960" y="1581912"/>
            <a:ext cx="1097280" cy="438912"/>
          </a:xfrm>
          <a:prstGeom prst="rect">
            <a:avLst/>
          </a:prstGeom>
          <a:solidFill>
            <a:srgbClr val="FFF2C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1645920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44444"/>
                </a:solidFill>
              </a:rPr>
              <a:t>0.949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020824"/>
            <a:ext cx="210312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2084831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44444"/>
                </a:solidFill>
              </a:rPr>
              <a:t>One-Class SVM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68879" y="2020824"/>
            <a:ext cx="128016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14599" y="2084831"/>
            <a:ext cx="1188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44444"/>
                </a:solidFill>
              </a:rPr>
              <a:t>0.097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49039" y="2020824"/>
            <a:ext cx="141732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94759" y="2084831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44444"/>
                </a:solidFill>
              </a:rPr>
              <a:t>0.140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66360" y="2020824"/>
            <a:ext cx="137160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12080" y="2084831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44444"/>
                </a:solidFill>
              </a:rPr>
              <a:t>0.563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37960" y="2020824"/>
            <a:ext cx="1097280" cy="438912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2084831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44444"/>
                </a:solidFill>
              </a:rPr>
              <a:t>0.945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2459736"/>
            <a:ext cx="21031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2523744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44444"/>
                </a:solidFill>
              </a:rPr>
              <a:t>Local Outlier Factor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68879" y="2459736"/>
            <a:ext cx="12801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14599" y="2523744"/>
            <a:ext cx="11887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02020"/>
                </a:solidFill>
              </a:rPr>
              <a:t>0.007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749039" y="2459736"/>
            <a:ext cx="141732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94759" y="2523744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02020"/>
                </a:solidFill>
              </a:rPr>
              <a:t>0.000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66360" y="2459736"/>
            <a:ext cx="1371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12080" y="2523744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02020"/>
                </a:solidFill>
              </a:rPr>
              <a:t>0.039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37960" y="2459736"/>
            <a:ext cx="10972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0" y="2523744"/>
            <a:ext cx="10058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02020"/>
                </a:solidFill>
              </a:rPr>
              <a:t>0.513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2990088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3A68"/>
                </a:solidFill>
              </a:rPr>
              <a:t>★ Best: Isolation Forest — 206× lift at top-0.1%, ROC-AUC 0.949</a:t>
            </a:r>
          </a:p>
        </p:txBody>
      </p:sp>
      <p:pic>
        <p:nvPicPr>
          <p:cNvPr id="46" name="Picture 45" descr="anomaly_pr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097280"/>
            <a:ext cx="4297680" cy="475488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</a:rPr>
              <a:t>Source: outputs/ml/anomaly_metrics.csv · outputs/ml/anomaly_pr_curves.png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Takeaways &amp; What's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11430000" cy="777240"/>
          </a:xfrm>
          <a:prstGeom prst="rect">
            <a:avLst/>
          </a:prstGeom>
          <a:solidFill>
            <a:srgbClr val="D0D8EA"/>
          </a:solidFill>
          <a:ln w="15240">
            <a:solidFill>
              <a:srgbClr val="1F3A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07008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F3A68"/>
                </a:solidFill>
              </a:rPr>
              <a:t>Isolation Forest captures 64.6% of supervised performance with zero labels  ·  ROC-AUC gap vs XGBoost: only 0.031 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</a:rPr>
              <a:t>Key 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5669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444444"/>
                </a:solidFill>
              </a:rPr>
              <a:t>▸  Prec@top-0.1% = 35.4%  →  206× lift over random selection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444444"/>
                </a:solidFill>
              </a:rPr>
              <a:t>▸  Cluster 0 (7% of txns): fraud rate 0.624% — 3.6× average, no labels used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444444"/>
                </a:solidFill>
              </a:rPr>
              <a:t>▸  Hours 2–4 AM: 24% of all fraud on just 5% of volume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444444"/>
                </a:solidFill>
              </a:rPr>
              <a:t>▸  LOF fails (AUC 0.51) — density collapse in 30-dim PCA 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0574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A68"/>
                </a:solidFill>
              </a:rPr>
              <a:t>What's Next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68880"/>
            <a:ext cx="5303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444444"/>
                </a:solidFill>
              </a:rPr>
              <a:t>▸  Supervised upgrade: see outputs/ml_supervised_comparison.md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444444"/>
                </a:solidFill>
              </a:rPr>
              <a:t>▸  Production monitoring: drift detection via data_quality_report.md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444444"/>
                </a:solidFill>
              </a:rPr>
              <a:t>▸  Threshold tuning for review-queue capacity: threshold_decisions.md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2011680"/>
            <a:ext cx="27432" cy="347472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88888"/>
                </a:solidFill>
              </a:rPr>
              <a:t>Source: outputs/ml_supervised_comparison.md · outputs/ml/anomaly_metrics.csv · outputs/report.md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